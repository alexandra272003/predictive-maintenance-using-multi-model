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7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B48184-B11C-4917-9E62-D0477AA71A17}" v="35" dt="2026-02-21T08:46:03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6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57334-98BC-4A09-80F3-255FC17C463D}" type="datetimeFigureOut">
              <a:rPr lang="en-IN" smtClean="0"/>
              <a:t>21-02-26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A38798-DE92-4DCD-B4A1-AEB4430882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63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38798-DE92-4DCD-B4A1-AEB44308829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075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52128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060139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398781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914187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C728D-416F-40D5-8F13-55E5DD1CE8D1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312068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894296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044027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C0DC8B19-DE76-4E18-BFC7-EB25B8C421E7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140973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282418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28969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711214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49C728D-416F-40D5-8F13-55E5DD1CE8D1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17DE1FC-E54A-4B87-A814-263D1E8654B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682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7" r:id="rId1"/>
    <p:sldLayoutId id="2147484278" r:id="rId2"/>
    <p:sldLayoutId id="2147484279" r:id="rId3"/>
    <p:sldLayoutId id="2147484280" r:id="rId4"/>
    <p:sldLayoutId id="2147484281" r:id="rId5"/>
    <p:sldLayoutId id="2147484282" r:id="rId6"/>
    <p:sldLayoutId id="2147484283" r:id="rId7"/>
    <p:sldLayoutId id="2147484284" r:id="rId8"/>
    <p:sldLayoutId id="2147484285" r:id="rId9"/>
    <p:sldLayoutId id="2147484286" r:id="rId10"/>
    <p:sldLayoutId id="2147484287" r:id="rId11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8" userDrawn="1">
          <p15:clr>
            <a:srgbClr val="F26B43"/>
          </p15:clr>
        </p15:guide>
        <p15:guide id="4" pos="216" userDrawn="1">
          <p15:clr>
            <a:srgbClr val="F26B43"/>
          </p15:clr>
        </p15:guide>
        <p15:guide id="5" orient="horz" pos="4032" userDrawn="1">
          <p15:clr>
            <a:srgbClr val="F26B43"/>
          </p15:clr>
        </p15:guide>
        <p15:guide id="6" pos="5544" userDrawn="1">
          <p15:clr>
            <a:srgbClr val="F26B43"/>
          </p15:clr>
        </p15:guide>
        <p15:guide id="7" pos="3834" userDrawn="1">
          <p15:clr>
            <a:srgbClr val="F26B43"/>
          </p15:clr>
        </p15:guide>
        <p15:guide id="8" pos="1908" userDrawn="1">
          <p15:clr>
            <a:srgbClr val="F26B43"/>
          </p15:clr>
        </p15:guide>
        <p15:guide id="9" pos="648" userDrawn="1">
          <p15:clr>
            <a:srgbClr val="F26B43"/>
          </p15:clr>
        </p15:guide>
        <p15:guide id="10" orient="horz" pos="648" userDrawn="1">
          <p15:clr>
            <a:srgbClr val="F26B43"/>
          </p15:clr>
        </p15:guide>
        <p15:guide id="11" pos="51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2B3E72-03CD-8F0A-A4FB-BC431F8038BE}"/>
              </a:ext>
            </a:extLst>
          </p:cNvPr>
          <p:cNvSpPr txBox="1"/>
          <p:nvPr/>
        </p:nvSpPr>
        <p:spPr>
          <a:xfrm>
            <a:off x="-62752" y="70964"/>
            <a:ext cx="9144000" cy="577081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ctr"/>
            <a:endParaRPr lang="en-US" sz="4950" dirty="0">
              <a:latin typeface="Times New Roman "/>
            </a:endParaRPr>
          </a:p>
          <a:p>
            <a:pPr algn="ctr"/>
            <a:endParaRPr lang="en-US" sz="4950" dirty="0">
              <a:latin typeface="Times New Roman"/>
              <a:cs typeface="Times New Roman"/>
            </a:endParaRPr>
          </a:p>
          <a:p>
            <a:pPr algn="ctr"/>
            <a:r>
              <a:rPr lang="en-US" sz="3600" b="1" dirty="0">
                <a:latin typeface="Times New Roman"/>
                <a:cs typeface="Times New Roman"/>
              </a:rPr>
              <a:t>PREDICTIVE MAINTENANCE USING MULTI MODEL</a:t>
            </a:r>
          </a:p>
          <a:p>
            <a:pPr algn="ctr"/>
            <a:endParaRPr lang="en-US" sz="4950" dirty="0">
              <a:latin typeface="Times New Roman"/>
              <a:cs typeface="Times New Roman"/>
            </a:endParaRPr>
          </a:p>
          <a:p>
            <a:endParaRPr lang="en-IN" sz="2400" dirty="0">
              <a:latin typeface="Times New Roman"/>
              <a:cs typeface="Times New Roman"/>
            </a:endParaRPr>
          </a:p>
          <a:p>
            <a:r>
              <a:rPr lang="en-IN" sz="2400" b="1" dirty="0">
                <a:latin typeface="Times New Roman"/>
                <a:cs typeface="Times New Roman"/>
              </a:rPr>
              <a:t>    Presented by: Alexandra Pratap Singh</a:t>
            </a:r>
          </a:p>
          <a:p>
            <a:r>
              <a:rPr lang="en-IN" sz="2400" b="1" dirty="0">
                <a:latin typeface="Times New Roman"/>
                <a:cs typeface="Times New Roman"/>
              </a:rPr>
              <a:t>    Enrolment no.: U2245002</a:t>
            </a:r>
            <a:endParaRPr lang="en-IN" sz="2400" dirty="0"/>
          </a:p>
          <a:p>
            <a:r>
              <a:rPr lang="en-IN" sz="2400" b="1" dirty="0">
                <a:latin typeface="Times New Roman"/>
                <a:cs typeface="Times New Roman"/>
              </a:rPr>
              <a:t>    Course: 5yrs Integrated BCA &amp; MCA(data science)</a:t>
            </a:r>
            <a:endParaRPr lang="en-IN" sz="2400" dirty="0"/>
          </a:p>
          <a:p>
            <a:r>
              <a:rPr lang="en-IN" sz="2400" b="1" dirty="0">
                <a:latin typeface="Times New Roman"/>
                <a:cs typeface="Times New Roman"/>
              </a:rPr>
              <a:t>    Supervisor: Ms. Sunita Tripathi</a:t>
            </a:r>
          </a:p>
          <a:p>
            <a:endParaRPr lang="en-IN" sz="1500" b="1" dirty="0">
              <a:latin typeface="Times New Roman "/>
            </a:endParaRPr>
          </a:p>
          <a:p>
            <a:endParaRPr lang="en-US" sz="1500" b="1" dirty="0">
              <a:latin typeface="Times New Roman 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3FCD59-9EC4-455A-3395-385BB099F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18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CF5910-7BE2-0932-04E2-71E526529D90}"/>
              </a:ext>
            </a:extLst>
          </p:cNvPr>
          <p:cNvSpPr txBox="1"/>
          <p:nvPr/>
        </p:nvSpPr>
        <p:spPr>
          <a:xfrm>
            <a:off x="399971" y="439877"/>
            <a:ext cx="8341894" cy="48705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8580" tIns="34290" rIns="68580" bIns="34290" rtlCol="0" anchor="t">
            <a:spAutoFit/>
          </a:bodyPr>
          <a:lstStyle/>
          <a:p>
            <a:pPr algn="ctr"/>
            <a:endParaRPr lang="en-US" sz="2400" dirty="0">
              <a:latin typeface="Times New Roman "/>
            </a:endParaRPr>
          </a:p>
          <a:p>
            <a:pPr algn="ctr"/>
            <a:r>
              <a:rPr lang="en-US" sz="3200" b="1" u="sng" dirty="0">
                <a:latin typeface="Times New Roman "/>
              </a:rPr>
              <a:t>Content</a:t>
            </a:r>
            <a:endParaRPr lang="en-US" sz="3200" dirty="0"/>
          </a:p>
          <a:p>
            <a:pPr algn="ctr"/>
            <a:endParaRPr lang="en-US" sz="3200" b="1" u="sng" dirty="0">
              <a:latin typeface="Times New Roman "/>
              <a:cs typeface="Times New Roman"/>
            </a:endParaRPr>
          </a:p>
          <a:p>
            <a:pPr marL="842645" lvl="1" indent="-385445">
              <a:buAutoNum type="arabicPeriod"/>
            </a:pPr>
            <a:r>
              <a:rPr lang="en-US" sz="3200" dirty="0">
                <a:latin typeface="Times New Roman"/>
                <a:cs typeface="Times New Roman"/>
              </a:rPr>
              <a:t> Introduction</a:t>
            </a:r>
          </a:p>
          <a:p>
            <a:pPr marL="842645" lvl="1" indent="-385445">
              <a:buFont typeface="+mj-lt"/>
              <a:buAutoNum type="arabicPeriod"/>
            </a:pPr>
            <a:r>
              <a:rPr lang="en-US" sz="3200" dirty="0">
                <a:latin typeface="Times New Roman"/>
                <a:cs typeface="Times New Roman"/>
              </a:rPr>
              <a:t> Problem Statement</a:t>
            </a:r>
          </a:p>
          <a:p>
            <a:pPr marL="842645" lvl="1" indent="-385445">
              <a:buFont typeface="+mj-lt"/>
              <a:buAutoNum type="arabicPeriod"/>
            </a:pPr>
            <a:r>
              <a:rPr lang="en-US" sz="3200" dirty="0">
                <a:latin typeface="Times New Roman"/>
                <a:cs typeface="Times New Roman"/>
              </a:rPr>
              <a:t> Motivation</a:t>
            </a:r>
          </a:p>
          <a:p>
            <a:pPr marL="842645" lvl="1" indent="-385445">
              <a:buFont typeface="+mj-lt"/>
              <a:buAutoNum type="arabicPeriod"/>
            </a:pPr>
            <a:r>
              <a:rPr lang="en-US" sz="3200" dirty="0">
                <a:latin typeface="Times New Roman"/>
                <a:cs typeface="Times New Roman"/>
              </a:rPr>
              <a:t> Objective </a:t>
            </a:r>
          </a:p>
          <a:p>
            <a:pPr marL="842645" lvl="1" indent="-385445">
              <a:buFont typeface="+mj-lt"/>
              <a:buAutoNum type="arabicPeriod"/>
            </a:pPr>
            <a:r>
              <a:rPr lang="en-US" sz="3200" dirty="0">
                <a:latin typeface="Times New Roman"/>
                <a:cs typeface="Times New Roman"/>
              </a:rPr>
              <a:t> Requirements</a:t>
            </a:r>
          </a:p>
          <a:p>
            <a:pPr marL="842645" lvl="1" indent="-385445">
              <a:buFont typeface="+mj-lt"/>
              <a:buAutoNum type="arabicPeriod"/>
            </a:pPr>
            <a:r>
              <a:rPr lang="en-US" sz="3200" dirty="0">
                <a:latin typeface="Times New Roman"/>
                <a:cs typeface="Times New Roman"/>
              </a:rPr>
              <a:t> Future Scope</a:t>
            </a:r>
          </a:p>
          <a:p>
            <a:pPr marL="842645" lvl="1" indent="-385445">
              <a:buFont typeface="+mj-lt"/>
              <a:buAutoNum type="arabicPeriod"/>
            </a:pPr>
            <a:r>
              <a:rPr lang="en-US" sz="3200" dirty="0">
                <a:latin typeface="Times New Roman"/>
                <a:cs typeface="Times New Roman"/>
              </a:rPr>
              <a:t> Reference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603AB-3B5B-AEBB-9A64-954585A4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12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FB0F9B-3022-0244-AE93-0BC00E65A03C}"/>
              </a:ext>
            </a:extLst>
          </p:cNvPr>
          <p:cNvSpPr txBox="1"/>
          <p:nvPr/>
        </p:nvSpPr>
        <p:spPr>
          <a:xfrm>
            <a:off x="3123826" y="222433"/>
            <a:ext cx="2896348" cy="2215991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algn="ctr"/>
            <a:endParaRPr lang="en-US" sz="3300" b="1" u="sng" dirty="0">
              <a:latin typeface="Times New Roman"/>
              <a:cs typeface="Times New Roman"/>
            </a:endParaRPr>
          </a:p>
          <a:p>
            <a:pPr algn="ctr"/>
            <a:r>
              <a:rPr lang="en-US" sz="3000" b="1" u="sng" dirty="0">
                <a:latin typeface="Times New Roman"/>
                <a:cs typeface="Times New Roman"/>
              </a:rPr>
              <a:t>Introduction</a:t>
            </a:r>
          </a:p>
          <a:p>
            <a:pPr algn="ctr"/>
            <a:endParaRPr lang="en-US" sz="1050" dirty="0"/>
          </a:p>
          <a:p>
            <a:pPr algn="ctr"/>
            <a:endParaRPr lang="en-US" sz="3300" b="1" u="sng" dirty="0">
              <a:latin typeface="Times New Roman"/>
              <a:cs typeface="Times New Roman"/>
            </a:endParaRPr>
          </a:p>
          <a:p>
            <a:endParaRPr lang="en-US" sz="3300" b="1" u="sng" dirty="0">
              <a:latin typeface="Times New Roman"/>
              <a:cs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B30031-4749-C280-7D56-8AF8DEB33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E76ED60-9932-3759-E72D-424A65DDC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2070101"/>
            <a:ext cx="8051800" cy="3166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Maintenance is a data-driven strategy used to anticipate machine failures before they occur by analyzing sensor and operational data. Unlike reactive or time-based maintenance, predictive maintenance enables proactive intervention, reducing unexpected downtime and operational costs. </a:t>
            </a:r>
          </a:p>
        </p:txBody>
      </p:sp>
    </p:spTree>
    <p:extLst>
      <p:ext uri="{BB962C8B-B14F-4D97-AF65-F5344CB8AC3E}">
        <p14:creationId xmlns:p14="http://schemas.microsoft.com/office/powerpoint/2010/main" val="4068618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825AD8-A600-56A2-8A16-819CCA7F3641}"/>
              </a:ext>
            </a:extLst>
          </p:cNvPr>
          <p:cNvSpPr txBox="1"/>
          <p:nvPr/>
        </p:nvSpPr>
        <p:spPr>
          <a:xfrm>
            <a:off x="127000" y="330200"/>
            <a:ext cx="8788400" cy="5892800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ea typeface="Eastman Alt Pack Bold" panose="00000800000000000000"/>
                <a:cs typeface="Times New Roman" panose="02020603050405020304" pitchFamily="18" charset="0"/>
                <a:sym typeface="Eastman Alt Pack Bold" panose="00000800000000000000"/>
              </a:rPr>
              <a:t>Problem Statement</a:t>
            </a:r>
          </a:p>
          <a:p>
            <a:pPr marL="457200" indent="-457200" algn="ctr">
              <a:buFont typeface="+mj-lt"/>
              <a:buAutoNum type="arabicPeriod"/>
            </a:pPr>
            <a:endParaRPr lang="en-US" sz="2400" b="1" u="sng" dirty="0">
              <a:latin typeface="Times New Roman"/>
              <a:ea typeface="+mn-lt"/>
              <a:cs typeface="Times New Roman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Single-Model Dependency Problem: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studies rely on a single algorithm such as Random Forest or SVM. lack of structured multi-model comparison limits robustness and benchmarking clarity.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Handling Challenge: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events are rare compared to normal operational data. models trained on imbalanced datasets may show high accuracy but poor failure detection.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Model Interpretability &amp; Feature Analysis: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focus only on performance metrics without explaining predictions.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5E83C1-4934-52F4-A37A-9E7F1BD9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91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DBF210-ECF8-A1D9-5CF3-C29D01CB54F5}"/>
              </a:ext>
            </a:extLst>
          </p:cNvPr>
          <p:cNvSpPr txBox="1"/>
          <p:nvPr/>
        </p:nvSpPr>
        <p:spPr>
          <a:xfrm>
            <a:off x="184354" y="-97298"/>
            <a:ext cx="8775292" cy="7763664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algn="ctr"/>
            <a:endParaRPr lang="en-US" sz="3000" b="1" u="sng" dirty="0">
              <a:latin typeface="Times New Roman"/>
              <a:ea typeface="Eastman Alt Pack Bold" panose="00000800000000000000"/>
              <a:cs typeface="Times New Roman"/>
              <a:sym typeface="Eastman Alt Pack Bold" panose="00000800000000000000"/>
            </a:endParaRPr>
          </a:p>
          <a:p>
            <a:pPr algn="ctr"/>
            <a:r>
              <a:rPr lang="en-US" sz="3600" b="1" u="sng" dirty="0">
                <a:latin typeface="Times New Roman"/>
                <a:ea typeface="Eastman Alt Pack Bold" panose="00000800000000000000"/>
                <a:cs typeface="Times New Roman"/>
                <a:sym typeface="Eastman Alt Pack Bold" panose="00000800000000000000"/>
              </a:rPr>
              <a:t>Motivation</a:t>
            </a:r>
            <a:endParaRPr lang="en-US" sz="3600" dirty="0">
              <a:latin typeface="Times New Roman"/>
              <a:cs typeface="Times New Roman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accurate and early detection of machine failures by leveraging multi-model machine learning techniques while addressing class imbalance and interpretability challenges to deliver reliable, high-performance predictive maintenance solutions for industrial environments.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B78DFF-A259-38DF-0563-EAD4E407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87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A7F63E-CA78-775B-D08D-06ACC016F70B}"/>
              </a:ext>
            </a:extLst>
          </p:cNvPr>
          <p:cNvSpPr txBox="1"/>
          <p:nvPr/>
        </p:nvSpPr>
        <p:spPr>
          <a:xfrm>
            <a:off x="577849" y="33089"/>
            <a:ext cx="7988301" cy="5270674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algn="ctr"/>
            <a:endParaRPr lang="en-US" sz="3000" b="1" u="sng" dirty="0">
              <a:latin typeface="Times New Roman"/>
              <a:ea typeface="Eastman Alt Pack Bold" panose="00000800000000000000"/>
              <a:cs typeface="Times New Roman"/>
              <a:sym typeface="Eastman Alt Pack Bold" panose="00000800000000000000"/>
            </a:endParaRPr>
          </a:p>
          <a:p>
            <a:pPr algn="ctr"/>
            <a:r>
              <a:rPr lang="en-US" sz="3000" b="1" u="sng" dirty="0">
                <a:latin typeface="Times New Roman"/>
                <a:ea typeface="Eastman Alt Pack Bold" panose="00000800000000000000"/>
                <a:cs typeface="Times New Roman"/>
                <a:sym typeface="Eastman Alt Pack Bold" panose="00000800000000000000"/>
              </a:rPr>
              <a:t>Objective</a:t>
            </a:r>
            <a:endParaRPr lang="en-US" sz="1350" dirty="0">
              <a:latin typeface="Times New Roman"/>
              <a:cs typeface="Times New Roman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the Predictive Maintenance System is to optimize industrial maintenance operations by accurately predicting machine failures and identifying failure types using multi-model machine learning techniques, ensuring reliable, recall-focused, and data-driven maintenance decision-making.</a:t>
            </a:r>
            <a:endParaRPr lang="en-US" sz="32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E8F678-2AD6-8A06-8AB9-7C0BE969F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3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3697CA-7CC9-5D6F-E98B-67A9E83EC444}"/>
              </a:ext>
            </a:extLst>
          </p:cNvPr>
          <p:cNvSpPr txBox="1"/>
          <p:nvPr/>
        </p:nvSpPr>
        <p:spPr>
          <a:xfrm>
            <a:off x="116758" y="568017"/>
            <a:ext cx="8910484" cy="65556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000" b="1" u="sng" dirty="0">
                <a:latin typeface="Times New Roman"/>
                <a:ea typeface="Eastman Alt Pack Bold" panose="00000800000000000000"/>
                <a:cs typeface="Times New Roman"/>
                <a:sym typeface="Eastman Alt Pack Bold" panose="00000800000000000000"/>
              </a:rPr>
              <a:t>Minimum Software Requirement</a:t>
            </a:r>
          </a:p>
          <a:p>
            <a:pPr algn="just"/>
            <a:endParaRPr lang="en-US" sz="3000" b="1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just"/>
            <a:endParaRPr lang="en-US" sz="3200" b="1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/>
                <a:ea typeface="Eastman Alt Pack Bold" panose="00000800000000000000"/>
                <a:cs typeface="Times New Roman"/>
                <a:sym typeface="Eastman Alt Pack Bold" panose="00000800000000000000"/>
              </a:rPr>
              <a:t>Frontend: </a:t>
            </a:r>
            <a:r>
              <a:rPr lang="en-US" sz="3200" dirty="0">
                <a:latin typeface="Times New Roman"/>
                <a:ea typeface="Eastman Alt Pack Bold" panose="00000800000000000000"/>
                <a:cs typeface="Times New Roman"/>
                <a:sym typeface="Eastman Alt Pack Bold" panose="00000800000000000000"/>
              </a:rPr>
              <a:t>Steamlit.</a:t>
            </a:r>
            <a:endParaRPr lang="en-US" sz="3200" dirty="0">
              <a:latin typeface="Times New Roman"/>
              <a:ea typeface="Eastman Alt Pack Bold" panose="00000800000000000000"/>
              <a:cs typeface="Times New Roman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/>
                <a:ea typeface="Eastman Alt Pack Bold" panose="00000800000000000000"/>
                <a:cs typeface="Times New Roman"/>
                <a:sym typeface="Eastman Alt Pack Bold" panose="00000800000000000000"/>
              </a:rPr>
              <a:t>Backend: </a:t>
            </a:r>
            <a:r>
              <a:rPr lang="en-US" sz="3200" dirty="0">
                <a:latin typeface="Times New Roman"/>
                <a:ea typeface="Eastman Alt Pack Bold" panose="00000800000000000000"/>
                <a:cs typeface="Times New Roman"/>
                <a:sym typeface="Eastman Alt Pack Bold" panose="00000800000000000000"/>
              </a:rPr>
              <a:t>SpaCy.</a:t>
            </a:r>
            <a:endParaRPr lang="en-US" sz="3200" dirty="0">
              <a:latin typeface="Times New Roman"/>
              <a:ea typeface="Eastman Alt Pack Bold" panose="00000800000000000000"/>
              <a:cs typeface="Times New Roman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/>
                <a:ea typeface="Eastman Alt Pack Bold" panose="00000800000000000000"/>
                <a:cs typeface="Times New Roman"/>
                <a:sym typeface="Eastman Alt Pack Bold" panose="00000800000000000000"/>
              </a:rPr>
              <a:t>IDE: </a:t>
            </a:r>
            <a:r>
              <a:rPr lang="en-US" sz="3200" dirty="0">
                <a:latin typeface="Times New Roman"/>
                <a:ea typeface="Eastman Alt Pack Bold" panose="00000800000000000000"/>
                <a:cs typeface="Times New Roman"/>
                <a:sym typeface="Eastman Alt Pack Bold" panose="00000800000000000000"/>
              </a:rPr>
              <a:t>VS Code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b="1" dirty="0"/>
              <a:t>Machine Learning Libraries: </a:t>
            </a:r>
            <a:r>
              <a:rPr lang="en-US" sz="3200" dirty="0"/>
              <a:t>Scikit-learn, XGBoost</a:t>
            </a:r>
            <a:endParaRPr lang="en-US" sz="3200" dirty="0">
              <a:latin typeface="Times New Roman"/>
              <a:ea typeface="Eastman Alt Pack Bold" panose="00000800000000000000"/>
              <a:cs typeface="Times New Roman"/>
              <a:sym typeface="Eastman Alt Pack Bold" panose="0000080000000000000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3200" b="1" dirty="0">
                <a:latin typeface="Arial" panose="020B0604020202020204" pitchFamily="34" charset="0"/>
              </a:rPr>
              <a:t>Data Processing Libraries: </a:t>
            </a:r>
            <a:r>
              <a:rPr lang="en-US" altLang="en-US" sz="3200" dirty="0">
                <a:latin typeface="Arial" panose="020B0604020202020204" pitchFamily="34" charset="0"/>
              </a:rPr>
              <a:t>Pandas, NumPy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3200" b="1" dirty="0">
                <a:latin typeface="Arial" panose="020B0604020202020204" pitchFamily="34" charset="0"/>
              </a:rPr>
              <a:t>Visualization Libraries: </a:t>
            </a:r>
            <a:r>
              <a:rPr lang="en-US" altLang="en-US" sz="3200" dirty="0">
                <a:latin typeface="Arial" panose="020B0604020202020204" pitchFamily="34" charset="0"/>
              </a:rPr>
              <a:t>Matplotlib, Seaborn</a:t>
            </a:r>
          </a:p>
          <a:p>
            <a:pPr marL="428625" indent="-428625" algn="just">
              <a:buFont typeface="Wingdings" panose="05000000000000000000" pitchFamily="2" charset="2"/>
              <a:buChar char="§"/>
            </a:pPr>
            <a:endParaRPr lang="en-US" sz="3200" b="1" dirty="0">
              <a:latin typeface="Times New Roman"/>
              <a:ea typeface="Eastman Alt Pack Bold" panose="00000800000000000000"/>
              <a:cs typeface="Times New Roman"/>
            </a:endParaRPr>
          </a:p>
          <a:p>
            <a:pPr marL="457200" indent="-457200" algn="just">
              <a:buFont typeface="Arial" panose="05000000000000000000" pitchFamily="2" charset="2"/>
              <a:buChar char="•"/>
            </a:pPr>
            <a:endParaRPr lang="en-US" sz="1200" dirty="0">
              <a:latin typeface="Avenir Next LT Pro Light"/>
              <a:ea typeface="Eastman Alt Pack Bold" panose="00000800000000000000"/>
              <a:cs typeface="Times New Roman" panose="02020603050405020304" pitchFamily="18" charset="0"/>
            </a:endParaRPr>
          </a:p>
          <a:p>
            <a:pPr marL="428625" indent="-428625" algn="just">
              <a:buFont typeface="Wingdings" panose="05000000000000000000" pitchFamily="2" charset="2"/>
              <a:buChar char="§"/>
            </a:pPr>
            <a:endParaRPr lang="en-US" sz="3200" b="1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</a:endParaRPr>
          </a:p>
          <a:p>
            <a:pPr algn="just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</a:endParaRPr>
          </a:p>
          <a:p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38821D-D206-0F8B-BCD9-99F12A7FD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51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5A95B4-A041-C8DC-8DCE-0EA02F4360A8}"/>
              </a:ext>
            </a:extLst>
          </p:cNvPr>
          <p:cNvSpPr txBox="1"/>
          <p:nvPr/>
        </p:nvSpPr>
        <p:spPr>
          <a:xfrm>
            <a:off x="412137" y="882650"/>
            <a:ext cx="8898192" cy="38472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000" b="1" u="sng" dirty="0">
                <a:latin typeface="Times New Roman"/>
                <a:ea typeface="Eastman Alt Pack Bold" panose="00000800000000000000"/>
                <a:cs typeface="Times New Roman"/>
                <a:sym typeface="Eastman Alt Pack Bold" panose="00000800000000000000"/>
              </a:rPr>
              <a:t>Minimum Hardware Requirement</a:t>
            </a:r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3200" b="1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/>
                <a:ea typeface="Eastman Alt Pack Bold" panose="00000800000000000000"/>
                <a:cs typeface="Times New Roman"/>
                <a:sym typeface="Eastman Alt Pack Bold" panose="00000800000000000000"/>
              </a:rPr>
              <a:t>Processor: Intel i5 or higher</a:t>
            </a:r>
            <a:endParaRPr lang="en-US" sz="3200" b="1" dirty="0">
              <a:latin typeface="Times New Roman"/>
              <a:ea typeface="Eastman Alt Pack Bold" panose="00000800000000000000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/>
                <a:ea typeface="Eastman Alt Pack Bold" panose="00000800000000000000"/>
                <a:cs typeface="Times New Roman"/>
                <a:sym typeface="Eastman Alt Pack Bold" panose="00000800000000000000"/>
              </a:rPr>
              <a:t>RAM: 8GB or higher</a:t>
            </a:r>
            <a:endParaRPr lang="en-US" sz="3200" b="1" dirty="0">
              <a:latin typeface="Times New Roman"/>
              <a:ea typeface="Eastman Alt Pack Bold" panose="00000800000000000000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/>
                <a:ea typeface="Eastman Alt Pack Bold" panose="00000800000000000000"/>
                <a:cs typeface="Times New Roman"/>
                <a:sym typeface="Eastman Alt Pack Bold" panose="00000800000000000000"/>
              </a:rPr>
              <a:t>Storage: 500GB SSD or higher</a:t>
            </a:r>
            <a:endParaRPr lang="en-US" sz="3200" b="1" dirty="0">
              <a:latin typeface="Times New Roman"/>
              <a:ea typeface="Eastman Alt Pack Bold" panose="00000800000000000000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/>
                <a:ea typeface="Eastman Alt Pack Bold" panose="00000800000000000000"/>
                <a:cs typeface="Times New Roman"/>
                <a:sym typeface="Eastman Alt Pack Bold" panose="00000800000000000000"/>
              </a:rPr>
              <a:t>Operating System: Windows 10 or higher</a:t>
            </a:r>
            <a:endParaRPr lang="en-US" sz="3200" b="1" dirty="0">
              <a:latin typeface="Times New Roman"/>
              <a:ea typeface="Eastman Alt Pack Bold" panose="00000800000000000000"/>
              <a:cs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F6F223-78BF-3689-EF85-A5578E54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85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271853-E665-5A6C-76D2-147D7C489BCA}"/>
              </a:ext>
            </a:extLst>
          </p:cNvPr>
          <p:cNvSpPr txBox="1"/>
          <p:nvPr/>
        </p:nvSpPr>
        <p:spPr>
          <a:xfrm>
            <a:off x="467032" y="857250"/>
            <a:ext cx="8295968" cy="806374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000" b="1" u="sng" dirty="0">
                <a:latin typeface="Times New Roman" panose="02020603050405020304" pitchFamily="18" charset="0"/>
                <a:ea typeface="Eastman Alt Pack Bold" panose="00000800000000000000"/>
                <a:cs typeface="Times New Roman" panose="02020603050405020304" pitchFamily="18" charset="0"/>
                <a:sym typeface="Eastman Alt Pack Bold" panose="00000800000000000000"/>
              </a:rPr>
              <a:t>Future Scope</a:t>
            </a: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future of predictive maintenance lies in integrating advanced AI techniques—such as deep learning–based sequence modeling, real-time streaming analytics, and adaptive self-learning systems—to deliver more accurate, scalable, and autonomous failure prediction in smart industrial environments.</a:t>
            </a:r>
            <a:endParaRPr lang="en-US" sz="3000" b="1" u="sng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4F5FE5-1314-19EB-F028-612619CD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1554" y="6408742"/>
            <a:ext cx="659335" cy="448830"/>
          </a:xfrm>
        </p:spPr>
        <p:txBody>
          <a:bodyPr/>
          <a:lstStyle/>
          <a:p>
            <a:r>
              <a:rPr lang="en-US" sz="105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7630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147E42-9DA0-320D-06F1-2E2489865BD2}"/>
              </a:ext>
            </a:extLst>
          </p:cNvPr>
          <p:cNvSpPr txBox="1"/>
          <p:nvPr/>
        </p:nvSpPr>
        <p:spPr>
          <a:xfrm>
            <a:off x="419100" y="482601"/>
            <a:ext cx="8382000" cy="113723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3000" b="1" u="sng" dirty="0">
                <a:latin typeface="Times New Roman" panose="02020603050405020304" pitchFamily="18" charset="0"/>
                <a:ea typeface="Eastman Alt Pack Bold" panose="00000800000000000000"/>
                <a:cs typeface="Times New Roman" panose="02020603050405020304" pitchFamily="18" charset="0"/>
                <a:sym typeface="Eastman Alt Pack Bold" panose="00000800000000000000"/>
              </a:rPr>
              <a:t>Reference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algn="ctr"/>
            <a:endParaRPr lang="en-US" b="1" u="sng" dirty="0">
              <a:latin typeface="Times New Roman"/>
              <a:ea typeface="+mn-lt"/>
              <a:cs typeface="Times New Roman"/>
            </a:endParaRPr>
          </a:p>
          <a:p>
            <a:pPr marL="342900" lvl="0" indent="-342900" algn="just">
              <a:buFont typeface="+mj-lt"/>
              <a:buAutoNum type="arabicParenR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Subramaniam, M. R., &amp; Mangu, S. "Predictive Maintenance: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Analysis and Future Outlook."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International Conference on Future Technologies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2023.</a:t>
            </a:r>
          </a:p>
          <a:p>
            <a:pPr marL="342900" lvl="0" indent="-342900" algn="just">
              <a:buFont typeface="+mj-lt"/>
              <a:buAutoNum type="arabicParenR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Ghelani, D. "Harnessing Machine Learning for Predictive Maintenance in Energy Infrastructure: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Review of Challenges and Solutions."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Science and Research Archive</a:t>
            </a:r>
          </a:p>
          <a:p>
            <a:pPr marL="342900" lvl="0" indent="-342900" algn="just">
              <a:buFont typeface="+mj-lt"/>
              <a:buAutoNum type="arabicParenR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Rosati, R., Romeo, L., Cecchini, G.,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Tonetto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F., Viti, P., Mancini, A., &amp;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Frontoni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"From Knowledge-Based to Big Data Analytic Model: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Novel IoT and Machine Learning Based Decision Support System for Predictive Maintenance in Industry 4.0."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Intelligent Manufacturing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lvl="0" indent="-342900" algn="just">
              <a:buFont typeface="+mj-lt"/>
              <a:buAutoNum type="arabicParenR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Almobarek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Mendibil, K., &amp;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Alrashdan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"Predictive Maintenance 4.0 for Chilled Water System at Commercial Buildings: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Methodological Framework."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Volume 13, Issue 2, 2023. DOI: 10.3390/buildings13020497.</a:t>
            </a:r>
          </a:p>
          <a:p>
            <a:pPr algn="just"/>
            <a:endParaRPr lang="en-IN" sz="1600" dirty="0">
              <a:latin typeface="Times New Roman"/>
              <a:ea typeface="+mn-lt"/>
              <a:cs typeface="+mn-lt"/>
            </a:endParaRPr>
          </a:p>
          <a:p>
            <a:pPr marL="342900" indent="-342900">
              <a:buAutoNum type="arabicParenR"/>
            </a:pPr>
            <a:endParaRPr lang="en-US" sz="1350" dirty="0">
              <a:solidFill>
                <a:srgbClr val="222222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257175" indent="-257175">
              <a:buAutoNum type="arabicParenR"/>
            </a:pPr>
            <a:endParaRPr lang="en-US" sz="135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>
              <a:lnSpc>
                <a:spcPct val="200000"/>
              </a:lnSpc>
              <a:buFont typeface="Calibri Light" panose="020F0302020204030204"/>
              <a:buAutoNum type="arabicParenR"/>
            </a:pPr>
            <a:endParaRPr lang="en-IN" sz="135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 b="1" i="0" u="sng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  <a:p>
            <a:pPr algn="ctr"/>
            <a:endParaRPr lang="en-US" sz="3000" b="1" u="sng" dirty="0">
              <a:latin typeface="Times New Roman" panose="02020603050405020304" pitchFamily="18" charset="0"/>
              <a:ea typeface="Eastman Alt Pack Bold" panose="00000800000000000000"/>
              <a:cs typeface="Times New Roman" panose="02020603050405020304" pitchFamily="18" charset="0"/>
              <a:sym typeface="Eastman Alt Pack Bold" panose="0000080000000000000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5909A6-4C1C-92DB-0383-4CA786D3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7278" y="6329460"/>
            <a:ext cx="936824" cy="514898"/>
          </a:xfrm>
        </p:spPr>
        <p:txBody>
          <a:bodyPr/>
          <a:lstStyle/>
          <a:p>
            <a:r>
              <a:rPr lang="en-US" sz="1050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0525528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404</TotalTime>
  <Words>538</Words>
  <Application>Microsoft Office PowerPoint</Application>
  <PresentationFormat>On-screen Show (4:3)</PresentationFormat>
  <Paragraphs>101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Arial</vt:lpstr>
      <vt:lpstr>Avenir Next LT Pro Light</vt:lpstr>
      <vt:lpstr>Calibri</vt:lpstr>
      <vt:lpstr>Calibri Light</vt:lpstr>
      <vt:lpstr>Times New Roman</vt:lpstr>
      <vt:lpstr>Times New Roman 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Sudhanshu Shekhar</dc:creator>
  <cp:lastModifiedBy>Om Singh</cp:lastModifiedBy>
  <cp:revision>486</cp:revision>
  <dcterms:created xsi:type="dcterms:W3CDTF">2024-11-12T05:57:23Z</dcterms:created>
  <dcterms:modified xsi:type="dcterms:W3CDTF">2026-02-21T09:22:07Z</dcterms:modified>
</cp:coreProperties>
</file>